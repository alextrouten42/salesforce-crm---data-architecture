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7568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71616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55664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9712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56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7568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7808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91856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9712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808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1856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87568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1616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9712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07808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91856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71616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5664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39712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7808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91856" y="1764792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1645920"/>
            <a:ext cx="10058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1005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 EDUCATION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17830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Blueprint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5029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· Lifecycle management · Automation · Security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1628"/>
          </a:solidFill>
          <a:ln w="12700">
            <a:solidFill>
              <a:srgbClr val="07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782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489 · Field Experience in Technology · Davenport University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4782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— Score 4.55 / 5.0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VPEd operates across universities, students, supervisors, and patients — without a centralized system to track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20440" y="274320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27432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51960" y="411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749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information across disconnected systems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417320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41732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1554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1892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reliance on manual work increases errors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560320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256032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51960" y="2697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3035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 capabilities to inform decisions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3703320"/>
            <a:ext cx="5349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20440" y="370332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51960" y="38404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51960" y="4178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patient data lacks formal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VPEd's data maps to Salesforce objects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41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" y="156362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(7 stages)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03911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start / Renewal 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51460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140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 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68680"/>
            <a:ext cx="274320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941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55848" y="1115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Supervisors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01568" y="156362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(Student / Supervisor)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203911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picklist (7 stages)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2514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4140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university (Account)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86868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868680"/>
            <a:ext cx="2743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941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27648" y="1115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73368" y="156362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patient ID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73368" y="203911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9385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windows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73368" y="25146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24140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student lookup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74320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743200"/>
            <a:ext cx="27432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816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404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29768" y="343814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Patient + Supervisor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" y="391363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date &amp; status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" y="43891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288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on qualification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46120" y="274320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46120" y="2743200"/>
            <a:ext cx="27432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55848" y="2816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35584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401568" y="343814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Match record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01568" y="391363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duration, status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01568" y="438912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0" y="4288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notes (access-controlled)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2743200"/>
            <a:ext cx="27432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2743200"/>
            <a:ext cx="2743200" cy="4754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2816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32764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373368" y="3438144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Patient / Supervisor ratings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73368" y="3913632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+ approval flag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373368" y="4389120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42885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completed Session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017520" y="2171700"/>
            <a:ext cx="5029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01568" y="2048256"/>
            <a:ext cx="128016" cy="12801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01568" y="2295144"/>
            <a:ext cx="128016" cy="-12801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89320" y="2171700"/>
            <a:ext cx="5029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73368" y="2048256"/>
            <a:ext cx="128016" cy="12801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73368" y="2295144"/>
            <a:ext cx="128016" cy="-12801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115568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89888" y="1412748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115568"/>
            <a:ext cx="111556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24328" y="1412748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115568"/>
            <a:ext cx="1115568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58768" y="1412748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115568"/>
            <a:ext cx="111556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93208" y="1412748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115568"/>
            <a:ext cx="111556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27648" y="1412748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115568"/>
            <a:ext cx="111556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62088" y="1412748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1115568"/>
            <a:ext cx="1115568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115568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status pipeline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286000"/>
            <a:ext cx="1115568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89888" y="2583180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08760" y="2286000"/>
            <a:ext cx="111556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24328" y="2583180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286000"/>
            <a:ext cx="111556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58768" y="2583180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77640" y="2286000"/>
            <a:ext cx="111556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93208" y="2583180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0" y="2286000"/>
            <a:ext cx="111556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2583180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2286000"/>
            <a:ext cx="111556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62088" y="2583180"/>
            <a:ext cx="118872" cy="0"/>
          </a:xfrm>
          <a:prstGeom prst="line">
            <a:avLst/>
          </a:prstGeom>
          <a:noFill/>
          <a:ln w="12700">
            <a:solidFill>
              <a:srgbClr val="C0C8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0960" y="2286000"/>
            <a:ext cx="111556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22860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⚡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127248"/>
            <a:ext cx="8595360" cy="4572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= Automation triggered at this stage     ⏰ = 7-day escalation alert if no match assigned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611880"/>
            <a:ext cx="2788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3611880"/>
            <a:ext cx="64008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6758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→ Auto-task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399592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student reaches Qualified, Flow Builder creates a Match Review task and assigns it to the staff queue automatically.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27832" y="3611880"/>
            <a:ext cx="2788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27832" y="3611880"/>
            <a:ext cx="64008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0712" y="36758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Match → 7-day alert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10712" y="399592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flow runs daily. If a student has been Awaiting Match for 7+ days, an admin alert is triggered for manual intervention.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81344" y="3611880"/>
            <a:ext cx="2788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81344" y="3611880"/>
            <a:ext cx="64008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64224" y="36758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→ Survey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64224" y="3995928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Session is marked Completed, Salesforce sends feedback surveys to the student, patient, and supervisor.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BUILDER AUTOMATIONS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automated workflows that eliminate manual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4206240" cy="1170432"/>
          </a:xfrm>
          <a:prstGeom prst="rect">
            <a:avLst/>
          </a:prstGeom>
          <a:solidFill>
            <a:srgbClr val="0D2B45"/>
          </a:solidFill>
          <a:ln w="635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54864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2416" y="10972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42416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Qualified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664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Creates Match Review task → assigned to staff queue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18888" y="1005840"/>
            <a:ext cx="4206240" cy="1170432"/>
          </a:xfrm>
          <a:prstGeom prst="rect">
            <a:avLst/>
          </a:prstGeom>
          <a:solidFill>
            <a:srgbClr val="0D2B45"/>
          </a:solidFill>
          <a:ln w="635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005840"/>
            <a:ext cx="54864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77256" y="10972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77256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→ Completed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1664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Sends feedback survey to student, patient &amp; supervisor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377440"/>
            <a:ext cx="4206240" cy="1170432"/>
          </a:xfrm>
          <a:prstGeom prst="rect">
            <a:avLst/>
          </a:prstGeom>
          <a:solidFill>
            <a:srgbClr val="0D2B45"/>
          </a:solidFill>
          <a:ln w="635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377440"/>
            <a:ext cx="54864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2416" y="2468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42416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→ Pilot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" y="3035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Notifies onboarding team → creates setup task checklist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18888" y="2377440"/>
            <a:ext cx="4206240" cy="1170432"/>
          </a:xfrm>
          <a:prstGeom prst="rect">
            <a:avLst/>
          </a:prstGeom>
          <a:solidFill>
            <a:srgbClr val="0D2B45"/>
          </a:solidFill>
          <a:ln w="635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377440"/>
            <a:ext cx="54864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77256" y="2468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77256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Match → 7+ days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035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Escalation alert to administrator for manual intervention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3749040"/>
            <a:ext cx="4206240" cy="1170432"/>
          </a:xfrm>
          <a:prstGeom prst="rect">
            <a:avLst/>
          </a:prstGeom>
          <a:solidFill>
            <a:srgbClr val="0D2B45"/>
          </a:solidFill>
          <a:ln w="635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749040"/>
            <a:ext cx="54864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42416" y="3840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42416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date within 30 days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" y="44074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Creates renewal task with contract summary for account mgr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18888" y="3749040"/>
            <a:ext cx="4206240" cy="1170432"/>
          </a:xfrm>
          <a:prstGeom prst="rect">
            <a:avLst/>
          </a:prstGeom>
          <a:solidFill>
            <a:srgbClr val="0D2B45"/>
          </a:solidFill>
          <a:ln w="6350">
            <a:solidFill>
              <a:srgbClr val="1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18888" y="3749040"/>
            <a:ext cx="54864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77256" y="3840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77256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testimonial approved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56048" y="44074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→  Flags record for marketing review and archives to session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HIPAA ALIGNMENT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by role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VPEd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patient identity, export, all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(matcher)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 matches, sessions, view student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35808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View/edit session notes, see supervisor-level feedback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968496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68496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(reports)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15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aggregate reports only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822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checklist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170432"/>
            <a:ext cx="4297680" cy="548640"/>
          </a:xfrm>
          <a:prstGeom prst="rect">
            <a:avLst/>
          </a:prstGeom>
          <a:solidFill>
            <a:srgbClr val="E8EDF2"/>
          </a:solidFill>
          <a:ln w="6350">
            <a:solidFill>
              <a:srgbClr val="D6D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38074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Associate Agreement (BAA) signed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not auto-included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819656"/>
            <a:ext cx="4297680" cy="548640"/>
          </a:xfrm>
          <a:prstGeom prst="rect">
            <a:avLst/>
          </a:prstGeom>
          <a:solidFill>
            <a:srgbClr val="E8EDF2"/>
          </a:solidFill>
          <a:ln w="6350">
            <a:solidFill>
              <a:srgbClr val="D6D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02996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837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Shield or Health Cloud edition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093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going 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468880"/>
            <a:ext cx="4297680" cy="548640"/>
          </a:xfrm>
          <a:prstGeom prst="rect">
            <a:avLst/>
          </a:prstGeom>
          <a:solidFill>
            <a:srgbClr val="E8EDF2"/>
          </a:solidFill>
          <a:ln w="6350">
            <a:solidFill>
              <a:srgbClr val="D6DD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679192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487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login &amp; data access logging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743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in all editions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118104"/>
            <a:ext cx="4297680" cy="548640"/>
          </a:xfrm>
          <a:prstGeom prst="rect">
            <a:avLst/>
          </a:prstGeom>
          <a:solidFill>
            <a:srgbClr val="E8EDF2"/>
          </a:solidFill>
          <a:ln w="6350">
            <a:solidFill>
              <a:srgbClr val="D6DD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32841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and in transit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3392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in all editions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3767328"/>
            <a:ext cx="4297680" cy="548640"/>
          </a:xfrm>
          <a:prstGeom prst="rect">
            <a:avLst/>
          </a:prstGeom>
          <a:solidFill>
            <a:srgbClr val="E8EDF2"/>
          </a:solidFill>
          <a:ln w="6350">
            <a:solidFill>
              <a:srgbClr val="D6D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97764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785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enforced for all user accounts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— must enable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4416552"/>
            <a:ext cx="4297680" cy="548640"/>
          </a:xfrm>
          <a:prstGeom prst="rect">
            <a:avLst/>
          </a:prstGeom>
          <a:solidFill>
            <a:srgbClr val="E8EDF2"/>
          </a:solidFill>
          <a:ln w="6350">
            <a:solidFill>
              <a:srgbClr val="D6DD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462686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434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security on patient records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4690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Custom-configured per profile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DASHBOARDS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55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VPEd program health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778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Universities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in pilot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80467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04672"/>
            <a:ext cx="20116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778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50592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Match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flagged &gt; 7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04672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8778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26864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This 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18% vs last month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04672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8778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03136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Feedback 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664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029968"/>
            <a:ext cx="484632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1488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 status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5146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1640" y="2578608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91640" y="2578608"/>
            <a:ext cx="31546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2862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2926080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91640" y="2926080"/>
            <a:ext cx="157734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91640" y="3273552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91640" y="3273552"/>
            <a:ext cx="119877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3557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match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91640" y="3621024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91640" y="3621024"/>
            <a:ext cx="725576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39044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91640" y="3968496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91640" y="3968496"/>
            <a:ext cx="56784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251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91640" y="4315968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91640" y="4315968"/>
            <a:ext cx="78867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03520" y="2029968"/>
            <a:ext cx="356616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86400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pipeline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9496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37960" y="2578608"/>
            <a:ext cx="2011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37960" y="2578608"/>
            <a:ext cx="181051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94960" y="28620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37960" y="2926080"/>
            <a:ext cx="2011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37960" y="2926080"/>
            <a:ext cx="1207008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28620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94960" y="32095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37960" y="3273552"/>
            <a:ext cx="2011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37960" y="3273552"/>
            <a:ext cx="80467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32095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94960" y="35570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37960" y="3621024"/>
            <a:ext cx="2011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37960" y="3621024"/>
            <a:ext cx="603504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95360" y="3557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94960" y="3904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37960" y="3968496"/>
            <a:ext cx="2011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37960" y="3968496"/>
            <a:ext cx="20116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95360" y="3904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394960" y="4251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537960" y="4315968"/>
            <a:ext cx="2011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37960" y="4315968"/>
            <a:ext cx="402336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4251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486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02412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0116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195681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Salesforce BAA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61518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50545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correct edition (Health Cloud / Shield)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163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Accounts, Contacts, custom objects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93192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8221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field-level security &amp; profiles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56432" y="10241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234440"/>
            <a:ext cx="20116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0592" y="1234440"/>
            <a:ext cx="20116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1261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1463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15184" y="19568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Flow Builder automations (6 workflows)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15184" y="261518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250545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7-day escalation alerts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15184" y="32735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9776" y="3163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feedback surveys on session complete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15184" y="39319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9776" y="38221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pilot onboarding notifications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32704" y="10241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1234440"/>
            <a:ext cx="20116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26864" y="12344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1261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592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592" y="1463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91456" y="19568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student-by-status report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91456" y="261518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250545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university pipeline report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91456" y="327355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163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sessions-completed dashboard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91456" y="39319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38221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 on reporting interface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808976" y="1024128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03136" y="1234440"/>
            <a:ext cx="20116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03136" y="1234440"/>
            <a:ext cx="20116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12864" y="1261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12864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12864" y="1463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67728" y="1956816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184708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bottlenecks from dashboards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67728" y="2615184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250545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automation as needs grow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67728" y="3273552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3163824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compliance posture quarterly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67728" y="3931920"/>
            <a:ext cx="91440" cy="91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382219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staff feedback for iteration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71628"/>
          </a:solidFill>
          <a:ln w="12700">
            <a:solidFill>
              <a:srgbClr val="07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27648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11696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5744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79792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228600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7648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1696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95744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612648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11696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95744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9792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996696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1696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1380744"/>
            <a:ext cx="45720" cy="45720"/>
          </a:xfrm>
          <a:prstGeom prst="ellipse">
            <a:avLst/>
          </a:prstGeom>
          <a:solidFill>
            <a:srgbClr val="1D3A56"/>
          </a:solidFill>
          <a:ln w="12700">
            <a:solidFill>
              <a:srgbClr val="1D3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731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10058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Salesforce as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VPEd's CRM platform.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411480" y="2423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Scored 4.55 / 5.0 — highest of four platforms evaluated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28163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 objects fully model VPEd's unique student-patient workflow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320954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Flow Builder automates 6 critical processes without manual effort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6027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HIPAA-aligned security controls with proper edition + BAA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9959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dashboards give staff operational visibility at a glance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507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phases · Invest in training · Monitor continuously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VPEd Salesforce CRM</dc:title>
  <dc:subject>PptxGenJS Presentation</dc:subject>
  <dc:creator>PptxGenJS</dc:creator>
  <cp:lastModifiedBy>PptxGenJS</cp:lastModifiedBy>
  <cp:revision>1</cp:revision>
  <dcterms:created xsi:type="dcterms:W3CDTF">2026-04-09T00:36:42Z</dcterms:created>
  <dcterms:modified xsi:type="dcterms:W3CDTF">2026-04-09T00:36:42Z</dcterms:modified>
</cp:coreProperties>
</file>